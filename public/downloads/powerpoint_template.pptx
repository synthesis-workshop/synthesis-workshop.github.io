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1177" r:id="rId2"/>
    <p:sldId id="1165" r:id="rId3"/>
    <p:sldId id="1201" r:id="rId4"/>
    <p:sldId id="120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48"/>
    <p:restoredTop sz="94674"/>
  </p:normalViewPr>
  <p:slideViewPr>
    <p:cSldViewPr snapToGrid="0" snapToObjects="1">
      <p:cViewPr varScale="1">
        <p:scale>
          <a:sx n="130" d="100"/>
          <a:sy n="130" d="100"/>
        </p:scale>
        <p:origin x="19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6B3F8B-E1F7-124F-894E-C3CBF2829572}" type="datetimeFigureOut">
              <a:rPr lang="en-US" smtClean="0"/>
              <a:t>1/25/21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B1753A-3B79-7C49-B9BD-2FB658B81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576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03200-E59F-4A71-8783-74144902911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049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03200-E59F-4A71-8783-74144902911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53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03200-E59F-4A71-8783-74144902911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533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03200-E59F-4A71-8783-74144902911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435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D1C7B-B4C7-384A-89BB-CFABAEC333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385D31-8154-4340-94D7-452206D95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D5654-03EF-7F4E-9BB6-286D3FAA6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71AC-3EEE-8440-9706-EE0CE84FD46B}" type="datetimeFigureOut">
              <a:rPr lang="en-US" smtClean="0"/>
              <a:t>1/25/21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D096A-ADF6-8F4C-986F-3FEE9C94F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07E06-17B0-434E-AD57-B5D186DC0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F54C-DFB9-3B47-94F9-53714BB9F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793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41313-8C99-7345-8DBA-3C0D5B1F8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2BE27-6DF7-C547-8157-34B24DD76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D7870-BFAA-6E46-BB10-399B4F56F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71AC-3EEE-8440-9706-EE0CE84FD46B}" type="datetimeFigureOut">
              <a:rPr lang="en-US" smtClean="0"/>
              <a:t>1/25/21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19DA6-D6C3-7F4B-AF06-D83843747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AE212-5763-7D48-9BC4-1404C8047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F54C-DFB9-3B47-94F9-53714BB9F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104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F7C51-50F6-854A-9152-F2F7D2129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2DA75-EFCB-5349-B62A-D3F7FE7E99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F6B5A-5473-6849-A69F-9830420CE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71AC-3EEE-8440-9706-EE0CE84FD46B}" type="datetimeFigureOut">
              <a:rPr lang="en-US" smtClean="0"/>
              <a:t>1/25/21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AA1B7-AE75-954F-8503-FE862034C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23800-0059-6A4D-8ACA-D4586C8B0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F54C-DFB9-3B47-94F9-53714BB9F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731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F0B5C-17B0-A141-ACE0-C991705F2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6F54C-DBAB-1B48-9236-8FCE83829E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787ABC-8071-DE48-B6C7-223267383E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64930-F12D-DA43-BCBC-7896276A8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71AC-3EEE-8440-9706-EE0CE84FD46B}" type="datetimeFigureOut">
              <a:rPr lang="en-US" smtClean="0"/>
              <a:t>1/25/21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D640A8-A081-1042-9388-94B563E64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B2015F-37F5-724C-98E3-DC0419C48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F54C-DFB9-3B47-94F9-53714BB9F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123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0F70F-813D-9443-A0DC-78B15C6DA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8DAD74-B8BE-464A-B8CC-5A20D6812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400D5-D3FE-E04C-AAF7-C416B0BD9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3E36EF-0BC6-6F4B-8646-DBECEB245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684B74-F5D3-3243-B687-7B736DD6D5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9B267D-6757-934D-8B41-1E8013295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71AC-3EEE-8440-9706-EE0CE84FD46B}" type="datetimeFigureOut">
              <a:rPr lang="en-US" smtClean="0"/>
              <a:t>1/25/21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1F5CFB-B879-9648-9604-9D4671DAE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F21EFC-1FB8-A642-984F-7C96C6534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F54C-DFB9-3B47-94F9-53714BB9F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426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1A7B3-8D18-5C44-9E1C-4E3C4071E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222D8F-8C32-314E-9D10-3C5C67B0D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71AC-3EEE-8440-9706-EE0CE84FD46B}" type="datetimeFigureOut">
              <a:rPr lang="en-US" smtClean="0"/>
              <a:t>1/25/21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15E684-82A2-954D-9705-3124C91D6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30ECD5-9E3B-9042-8B41-BD2C412EC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F54C-DFB9-3B47-94F9-53714BB9F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458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DC96BD-3B02-B041-A227-951259AA3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71AC-3EEE-8440-9706-EE0CE84FD46B}" type="datetimeFigureOut">
              <a:rPr lang="en-US" smtClean="0"/>
              <a:t>1/25/21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8C65D7-C792-074D-B21C-10194988B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BBF247-5E9C-BD47-811E-A1E5D1CC2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F54C-DFB9-3B47-94F9-53714BB9F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207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11E6F-85D6-A349-AD2F-F24746FD5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63796-10A7-A642-A44E-8AE6F3A76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2950C0-08AB-8A41-83E5-D0B446879E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682BEA-D8BF-3141-ABD1-30657114C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71AC-3EEE-8440-9706-EE0CE84FD46B}" type="datetimeFigureOut">
              <a:rPr lang="en-US" smtClean="0"/>
              <a:t>1/25/21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A55C76-3614-8B47-8307-1A3096DCE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EF025B-9317-2444-A610-437B98C0A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F54C-DFB9-3B47-94F9-53714BB9F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785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F1190-8667-4C48-84C3-D5FAAED4C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447577-702C-014E-8F13-76BA954648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E8488E-9EAE-CD42-87EB-3FDB30D04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A255E7-DEF9-4E48-8B9F-07FB6BEFC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71AC-3EEE-8440-9706-EE0CE84FD46B}" type="datetimeFigureOut">
              <a:rPr lang="en-US" smtClean="0"/>
              <a:t>1/25/21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6FD546-10C9-3F4F-9491-B45090DF3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1F13F3-B7A4-1D4D-A591-1DB3BBA37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F54C-DFB9-3B47-94F9-53714BB9F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455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63C6C-9197-9E4F-9876-A54ED0549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F8F41C-57BF-954E-BABF-8108B9D63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631B0-4F99-6040-8459-EA5B149D6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71AC-3EEE-8440-9706-EE0CE84FD46B}" type="datetimeFigureOut">
              <a:rPr lang="en-US" smtClean="0"/>
              <a:t>1/25/21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810AF-0B61-DB45-B9F3-246D6E6DA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F0A9B-80B2-5346-8A36-5EC3D0CBE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F54C-DFB9-3B47-94F9-53714BB9F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599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064D01-32B5-A346-8363-6DC5CF8BC2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5E832C-1D13-B547-AA23-4DAF6C13BA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C4252-CA12-FD41-B3D5-DCE0000B9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71AC-3EEE-8440-9706-EE0CE84FD46B}" type="datetimeFigureOut">
              <a:rPr lang="en-US" smtClean="0"/>
              <a:t>1/25/21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4694A-3725-5242-833C-DF2B72D7B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F881A-F379-8B4D-9966-8C01D9C7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5F54C-DFB9-3B47-94F9-53714BB9F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617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2692C3-4390-C94D-9204-22F51A92F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E4C590-4343-3146-BB46-B2E63BEC62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F5FE00-95E5-294B-876D-249A9538D3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CE71AC-3EEE-8440-9706-EE0CE84FD46B}" type="datetimeFigureOut">
              <a:rPr lang="en-US" smtClean="0"/>
              <a:t>1/25/21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1F997-CED9-6D4B-A20B-09F013017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686BA-5BAE-7F40-A605-7007225A3F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75F54C-DFB9-3B47-94F9-53714BB9F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015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hyperlink" Target="mailto:SynthesisWorkshopVideos@gmail.com" TargetMode="External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1524000" y="6416657"/>
            <a:ext cx="9144000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524000" y="6416658"/>
            <a:ext cx="9144000" cy="4413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533400"/>
            <a:ext cx="8686800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" name="Text Box 1">
            <a:extLst>
              <a:ext uri="{FF2B5EF4-FFF2-40B4-BE49-F238E27FC236}">
                <a16:creationId xmlns:a16="http://schemas.microsoft.com/office/drawing/2014/main" id="{ADBA1F70-E725-AD40-AE0D-514194195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692257"/>
            <a:ext cx="9144000" cy="472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ctr">
              <a:lnSpc>
                <a:spcPts val="3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endParaRPr lang="en-US" sz="2000" b="1" cap="all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3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endParaRPr lang="en-US" sz="2000" b="1" cap="all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3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endParaRPr lang="en-US" sz="2000" b="1" cap="all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3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endParaRPr lang="en-US" sz="2000" b="1" cap="all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3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endParaRPr lang="en-US" sz="2000" b="1" cap="all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3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endParaRPr lang="en-US" sz="2000" b="1" cap="all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3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endParaRPr lang="en-US" sz="2000" b="1" cap="all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3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US" sz="2400" b="1" cap="all" dirty="0">
                <a:latin typeface="Arial" panose="020B0604020202020204" pitchFamily="34" charset="0"/>
                <a:cs typeface="Arial" panose="020B0604020202020204" pitchFamily="34" charset="0"/>
              </a:rPr>
              <a:t>General </a:t>
            </a:r>
            <a:r>
              <a:rPr lang="en-US" sz="2400" b="1" cap="all" dirty="0" err="1"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r>
              <a:rPr lang="en-US" sz="2400" b="1" cap="all" dirty="0">
                <a:latin typeface="Arial" panose="020B0604020202020204" pitchFamily="34" charset="0"/>
                <a:cs typeface="Arial" panose="020B0604020202020204" pitchFamily="34" charset="0"/>
              </a:rPr>
              <a:t> template</a:t>
            </a:r>
          </a:p>
          <a:p>
            <a:pPr algn="ctr">
              <a:lnSpc>
                <a:spcPts val="3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endParaRPr lang="en-US" sz="2400" b="1" cap="al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3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US" sz="2000" cap="all" dirty="0">
                <a:latin typeface="Arial" panose="020B0604020202020204" pitchFamily="34" charset="0"/>
                <a:cs typeface="Arial" panose="020B0604020202020204" pitchFamily="34" charset="0"/>
              </a:rPr>
              <a:t>Speaker name</a:t>
            </a:r>
          </a:p>
          <a:p>
            <a:pPr algn="ctr">
              <a:lnSpc>
                <a:spcPts val="3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US" sz="2000" cap="all" dirty="0">
                <a:latin typeface="Arial" panose="020B0604020202020204" pitchFamily="34" charset="0"/>
                <a:cs typeface="Arial" panose="020B0604020202020204" pitchFamily="34" charset="0"/>
              </a:rPr>
              <a:t>Group name</a:t>
            </a:r>
          </a:p>
          <a:p>
            <a:pPr algn="ctr">
              <a:lnSpc>
                <a:spcPts val="3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3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3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Date</a:t>
            </a:r>
          </a:p>
          <a:p>
            <a:pPr algn="ctr">
              <a:lnSpc>
                <a:spcPts val="3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3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endParaRPr lang="en-US" sz="2000" i="1" cap="all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3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US" sz="2000" cap="all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i="1" cap="all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0E7888E-3196-4847-AEA6-83630589AA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3791" y="1612649"/>
            <a:ext cx="1635899" cy="77373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CBF2F98-B486-5E46-A4F6-ED441B9E7B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899" y="990599"/>
            <a:ext cx="2219048" cy="196740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CA9BEEF-D068-6943-9079-12F1D4DF1F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1432509"/>
            <a:ext cx="2141220" cy="96918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B21747E-1E51-E54C-9A58-438C28DB903B}"/>
              </a:ext>
            </a:extLst>
          </p:cNvPr>
          <p:cNvSpPr txBox="1"/>
          <p:nvPr/>
        </p:nvSpPr>
        <p:spPr>
          <a:xfrm>
            <a:off x="1524000" y="6487288"/>
            <a:ext cx="921238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Arial" pitchFamily="34" charset="0"/>
                <a:cs typeface="Arial" pitchFamily="34" charset="0"/>
              </a:rPr>
              <a:t>Template created by Matt Horwitz, Ph.D. Contact: </a:t>
            </a:r>
            <a:r>
              <a:rPr lang="en-US" sz="1350" dirty="0" err="1">
                <a:latin typeface="Arial" pitchFamily="34" charset="0"/>
                <a:cs typeface="Arial" pitchFamily="34" charset="0"/>
              </a:rPr>
              <a:t>synthesisworkshopvideos@gmail.com</a:t>
            </a:r>
            <a:r>
              <a:rPr lang="en-US" sz="1350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2782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1524000" y="6416657"/>
            <a:ext cx="9144000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524000" y="6416658"/>
            <a:ext cx="9144000" cy="4413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5"/>
          <p:cNvSpPr>
            <a:spLocks noGrp="1"/>
          </p:cNvSpPr>
          <p:nvPr>
            <p:ph type="title"/>
          </p:nvPr>
        </p:nvSpPr>
        <p:spPr>
          <a:xfrm>
            <a:off x="1716974" y="-38594"/>
            <a:ext cx="8382000" cy="715962"/>
          </a:xfrm>
        </p:spPr>
        <p:txBody>
          <a:bodyPr>
            <a:normAutofit/>
          </a:bodyPr>
          <a:lstStyle/>
          <a:p>
            <a:r>
              <a:rPr lang="en-US" sz="1800" b="1" i="1" dirty="0">
                <a:latin typeface="Arial" panose="020B0604020202020204" pitchFamily="34" charset="0"/>
                <a:cs typeface="Arial" panose="020B0604020202020204" pitchFamily="34" charset="0"/>
              </a:rPr>
              <a:t>Example: Introduction &amp; Retrosynthesis</a:t>
            </a:r>
          </a:p>
        </p:txBody>
      </p:sp>
      <p:sp>
        <p:nvSpPr>
          <p:cNvPr id="10" name="Rectangle 1141"/>
          <p:cNvSpPr>
            <a:spLocks noChangeArrowheads="1"/>
          </p:cNvSpPr>
          <p:nvPr/>
        </p:nvSpPr>
        <p:spPr bwMode="auto">
          <a:xfrm>
            <a:off x="3086101" y="9645240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" name="Rectangle 1145"/>
          <p:cNvSpPr>
            <a:spLocks noChangeArrowheads="1"/>
          </p:cNvSpPr>
          <p:nvPr/>
        </p:nvSpPr>
        <p:spPr bwMode="auto">
          <a:xfrm>
            <a:off x="6380671" y="68193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1149"/>
          <p:cNvSpPr>
            <a:spLocks noChangeArrowheads="1"/>
          </p:cNvSpPr>
          <p:nvPr/>
        </p:nvSpPr>
        <p:spPr bwMode="auto">
          <a:xfrm flipV="1">
            <a:off x="6476639" y="4157158"/>
            <a:ext cx="606724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C660DEA-B2D8-C643-88AC-90CF00DD3A27}"/>
              </a:ext>
            </a:extLst>
          </p:cNvPr>
          <p:cNvCxnSpPr/>
          <p:nvPr/>
        </p:nvCxnSpPr>
        <p:spPr>
          <a:xfrm>
            <a:off x="1752600" y="533400"/>
            <a:ext cx="8686800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1F9925F-7CDD-D143-99EA-9428C12BB1F6}"/>
              </a:ext>
            </a:extLst>
          </p:cNvPr>
          <p:cNvSpPr txBox="1"/>
          <p:nvPr/>
        </p:nvSpPr>
        <p:spPr>
          <a:xfrm>
            <a:off x="2080323" y="651093"/>
            <a:ext cx="8619208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i="1" dirty="0">
                <a:latin typeface="Arial" pitchFamily="34" charset="0"/>
                <a:cs typeface="Arial" pitchFamily="34" charset="0"/>
              </a:rPr>
              <a:t>• </a:t>
            </a:r>
            <a:r>
              <a:rPr lang="en-US" sz="1350" b="1" dirty="0">
                <a:latin typeface="Arial" pitchFamily="34" charset="0"/>
                <a:cs typeface="Arial" pitchFamily="34" charset="0"/>
              </a:rPr>
              <a:t>Text describing target and unique aspects of approach </a:t>
            </a:r>
            <a:r>
              <a:rPr lang="en-US" sz="1350" b="1" dirty="0" err="1">
                <a:latin typeface="Arial" pitchFamily="34" charset="0"/>
                <a:cs typeface="Arial" pitchFamily="34" charset="0"/>
              </a:rPr>
              <a:t>taekn</a:t>
            </a:r>
            <a:r>
              <a:rPr lang="en-US" sz="1350" b="1" dirty="0">
                <a:latin typeface="Arial" pitchFamily="34" charset="0"/>
                <a:cs typeface="Arial" pitchFamily="34" charset="0"/>
              </a:rPr>
              <a:t> </a:t>
            </a:r>
          </a:p>
          <a:p>
            <a:endParaRPr lang="en-US" sz="1350" b="1" dirty="0">
              <a:latin typeface="Arial" pitchFamily="34" charset="0"/>
              <a:cs typeface="Arial" pitchFamily="34" charset="0"/>
            </a:endParaRPr>
          </a:p>
          <a:p>
            <a:endParaRPr lang="en-US" sz="1350" b="1" dirty="0">
              <a:latin typeface="Arial" pitchFamily="34" charset="0"/>
              <a:cs typeface="Arial" pitchFamily="34" charset="0"/>
            </a:endParaRPr>
          </a:p>
          <a:p>
            <a:endParaRPr lang="en-US" sz="1350" b="1" dirty="0">
              <a:latin typeface="Arial" pitchFamily="34" charset="0"/>
              <a:cs typeface="Arial" pitchFamily="34" charset="0"/>
            </a:endParaRPr>
          </a:p>
          <a:p>
            <a:endParaRPr lang="en-US" sz="1350" b="1" dirty="0">
              <a:latin typeface="Arial" pitchFamily="34" charset="0"/>
              <a:cs typeface="Arial" pitchFamily="34" charset="0"/>
            </a:endParaRPr>
          </a:p>
          <a:p>
            <a:endParaRPr lang="en-US" sz="135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4670FDC2-897C-D940-9883-59F38D948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7618" y="254220"/>
            <a:ext cx="4138766" cy="27918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lvl="1">
              <a:tabLst>
                <a:tab pos="173038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Journal Abbrev.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Year,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Vol, Start Page-End Page.</a:t>
            </a:r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327B1F-A795-9242-A178-F07475D47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2933" y="1121897"/>
            <a:ext cx="1765300" cy="2082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D7B61C-3973-924B-8BA6-98A5FAA1C1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0187" y="1267524"/>
            <a:ext cx="3175000" cy="1447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54EF9B6-D4E4-4940-8D1F-A860E3EF5A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3493" y="2829426"/>
            <a:ext cx="4965700" cy="3302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FBC2CCC-6BCF-394C-9A6C-401998264489}"/>
              </a:ext>
            </a:extLst>
          </p:cNvPr>
          <p:cNvSpPr txBox="1"/>
          <p:nvPr/>
        </p:nvSpPr>
        <p:spPr>
          <a:xfrm>
            <a:off x="1524000" y="6487288"/>
            <a:ext cx="921238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Arial" pitchFamily="34" charset="0"/>
                <a:cs typeface="Arial" pitchFamily="34" charset="0"/>
              </a:rPr>
              <a:t>Place references related to further information here if desired. The main reference can go in the top right.</a:t>
            </a:r>
          </a:p>
        </p:txBody>
      </p:sp>
    </p:spTree>
    <p:extLst>
      <p:ext uri="{BB962C8B-B14F-4D97-AF65-F5344CB8AC3E}">
        <p14:creationId xmlns:p14="http://schemas.microsoft.com/office/powerpoint/2010/main" val="3319948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4CD74BD-9F6D-9748-A656-0EF8FE385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3002" y="2111331"/>
            <a:ext cx="520700" cy="355600"/>
          </a:xfrm>
          <a:prstGeom prst="rect">
            <a:avLst/>
          </a:prstGeom>
        </p:spPr>
      </p:pic>
      <p:cxnSp>
        <p:nvCxnSpPr>
          <p:cNvPr id="3" name="Straight Connector 2"/>
          <p:cNvCxnSpPr/>
          <p:nvPr/>
        </p:nvCxnSpPr>
        <p:spPr>
          <a:xfrm>
            <a:off x="1524000" y="6416657"/>
            <a:ext cx="9144000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524000" y="6416658"/>
            <a:ext cx="9144000" cy="4413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5"/>
          <p:cNvSpPr>
            <a:spLocks noGrp="1"/>
          </p:cNvSpPr>
          <p:nvPr>
            <p:ph type="title"/>
          </p:nvPr>
        </p:nvSpPr>
        <p:spPr>
          <a:xfrm>
            <a:off x="1716974" y="-38594"/>
            <a:ext cx="8382000" cy="715962"/>
          </a:xfrm>
        </p:spPr>
        <p:txBody>
          <a:bodyPr>
            <a:normAutofit/>
          </a:bodyPr>
          <a:lstStyle/>
          <a:p>
            <a:r>
              <a:rPr lang="en-US" sz="1800" b="1" i="1" dirty="0">
                <a:latin typeface="Arial" panose="020B0604020202020204" pitchFamily="34" charset="0"/>
                <a:cs typeface="Arial" panose="020B0604020202020204" pitchFamily="34" charset="0"/>
              </a:rPr>
              <a:t>Example: (-)-Curvulamine Total Synthesis</a:t>
            </a:r>
          </a:p>
        </p:txBody>
      </p:sp>
      <p:sp>
        <p:nvSpPr>
          <p:cNvPr id="10" name="Rectangle 1141"/>
          <p:cNvSpPr>
            <a:spLocks noChangeArrowheads="1"/>
          </p:cNvSpPr>
          <p:nvPr/>
        </p:nvSpPr>
        <p:spPr bwMode="auto">
          <a:xfrm>
            <a:off x="3086101" y="9645240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" name="Rectangle 1145"/>
          <p:cNvSpPr>
            <a:spLocks noChangeArrowheads="1"/>
          </p:cNvSpPr>
          <p:nvPr/>
        </p:nvSpPr>
        <p:spPr bwMode="auto">
          <a:xfrm>
            <a:off x="6380671" y="68193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C660DEA-B2D8-C643-88AC-90CF00DD3A27}"/>
              </a:ext>
            </a:extLst>
          </p:cNvPr>
          <p:cNvCxnSpPr/>
          <p:nvPr/>
        </p:nvCxnSpPr>
        <p:spPr>
          <a:xfrm>
            <a:off x="1752600" y="533400"/>
            <a:ext cx="8686800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Rectangle 6">
            <a:extLst>
              <a:ext uri="{FF2B5EF4-FFF2-40B4-BE49-F238E27FC236}">
                <a16:creationId xmlns:a16="http://schemas.microsoft.com/office/drawing/2014/main" id="{5714E39F-E843-7047-9DC9-EB5C67C7A2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7687" y="254220"/>
            <a:ext cx="3569197" cy="27918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lvl="1">
              <a:tabLst>
                <a:tab pos="173038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J. Am. Chem. Soc.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2020, 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142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1206-1210.</a:t>
            </a:r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B95CED-1829-6C43-92AA-0D64B7DA80BB}"/>
              </a:ext>
            </a:extLst>
          </p:cNvPr>
          <p:cNvSpPr txBox="1"/>
          <p:nvPr/>
        </p:nvSpPr>
        <p:spPr>
          <a:xfrm>
            <a:off x="1524000" y="6487288"/>
            <a:ext cx="921238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Arial" pitchFamily="34" charset="0"/>
                <a:cs typeface="Arial" pitchFamily="34" charset="0"/>
              </a:rPr>
              <a:t>For pioneering work on these acyl anion equivalents, see </a:t>
            </a:r>
            <a:r>
              <a:rPr lang="en-US" sz="1350" i="1" dirty="0">
                <a:latin typeface="Arial" pitchFamily="34" charset="0"/>
                <a:cs typeface="Arial" pitchFamily="34" charset="0"/>
              </a:rPr>
              <a:t>J. Am. Chem. Soc. </a:t>
            </a:r>
            <a:r>
              <a:rPr lang="en-US" sz="1350" b="1" dirty="0">
                <a:latin typeface="Arial" pitchFamily="34" charset="0"/>
                <a:cs typeface="Arial" pitchFamily="34" charset="0"/>
              </a:rPr>
              <a:t>1971, </a:t>
            </a:r>
            <a:r>
              <a:rPr lang="en-US" sz="1350" i="1" dirty="0">
                <a:latin typeface="Arial" pitchFamily="34" charset="0"/>
                <a:cs typeface="Arial" pitchFamily="34" charset="0"/>
              </a:rPr>
              <a:t>93</a:t>
            </a:r>
            <a:r>
              <a:rPr lang="en-US" sz="1350" dirty="0">
                <a:latin typeface="Arial" pitchFamily="34" charset="0"/>
                <a:cs typeface="Arial" pitchFamily="34" charset="0"/>
              </a:rPr>
              <a:t>, 5286-5287.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BD1BC28-31D3-0D42-87AE-DA32E9B2C1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4695026"/>
            <a:ext cx="2463800" cy="1651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D262C66-2BE6-FD4B-AE09-64B4E5B052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284" y="3844126"/>
            <a:ext cx="2324100" cy="25019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235098B-23A5-A446-B668-C5349F52C7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4019" y="1559607"/>
            <a:ext cx="2514600" cy="1866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877D4F-493D-254E-8AA9-FD9F0ADBFE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8737" y="1526890"/>
            <a:ext cx="3492500" cy="1701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F52249-335B-4D42-A19C-8E3227CF42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75737" y="1526890"/>
            <a:ext cx="3683000" cy="19431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5D766F8-5B0F-0743-BF5E-E22C50538F99}"/>
              </a:ext>
            </a:extLst>
          </p:cNvPr>
          <p:cNvSpPr txBox="1"/>
          <p:nvPr/>
        </p:nvSpPr>
        <p:spPr>
          <a:xfrm>
            <a:off x="2080323" y="651093"/>
            <a:ext cx="8619208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i="1" dirty="0">
                <a:latin typeface="Arial" pitchFamily="34" charset="0"/>
                <a:cs typeface="Arial" pitchFamily="34" charset="0"/>
              </a:rPr>
              <a:t>• </a:t>
            </a:r>
            <a:r>
              <a:rPr lang="en-US" sz="1350" b="1" dirty="0">
                <a:latin typeface="Arial" pitchFamily="34" charset="0"/>
                <a:cs typeface="Arial" pitchFamily="34" charset="0"/>
              </a:rPr>
              <a:t>Place structure of abbreviated compounds in boxes, align conditions and arrows, align structures, use colorful visual cues</a:t>
            </a:r>
          </a:p>
          <a:p>
            <a:endParaRPr lang="en-US" sz="1350" b="1" dirty="0">
              <a:latin typeface="Arial" pitchFamily="34" charset="0"/>
              <a:cs typeface="Arial" pitchFamily="34" charset="0"/>
            </a:endParaRPr>
          </a:p>
          <a:p>
            <a:endParaRPr lang="en-US" sz="1350" b="1" dirty="0">
              <a:latin typeface="Arial" pitchFamily="34" charset="0"/>
              <a:cs typeface="Arial" pitchFamily="34" charset="0"/>
            </a:endParaRPr>
          </a:p>
          <a:p>
            <a:endParaRPr lang="en-US" sz="1350" b="1" dirty="0">
              <a:latin typeface="Arial" pitchFamily="34" charset="0"/>
              <a:cs typeface="Arial" pitchFamily="34" charset="0"/>
            </a:endParaRPr>
          </a:p>
          <a:p>
            <a:endParaRPr lang="en-US" sz="1350" b="1" dirty="0">
              <a:latin typeface="Arial" pitchFamily="34" charset="0"/>
              <a:cs typeface="Arial" pitchFamily="34" charset="0"/>
            </a:endParaRPr>
          </a:p>
          <a:p>
            <a:endParaRPr lang="en-US" sz="135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836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C06415F-6661-B94C-A8B9-4039A89099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543" y="2316263"/>
            <a:ext cx="1635899" cy="77373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0B605D3-273E-EA49-B8CD-4ECAB14A5A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0651" y="1694213"/>
            <a:ext cx="2219048" cy="196740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D86090F-1920-3D47-9A0D-871C5797CA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7792" y="2136123"/>
            <a:ext cx="2141220" cy="969184"/>
          </a:xfrm>
          <a:prstGeom prst="rect">
            <a:avLst/>
          </a:prstGeom>
        </p:spPr>
      </p:pic>
      <p:cxnSp>
        <p:nvCxnSpPr>
          <p:cNvPr id="3" name="Straight Connector 2"/>
          <p:cNvCxnSpPr/>
          <p:nvPr/>
        </p:nvCxnSpPr>
        <p:spPr>
          <a:xfrm>
            <a:off x="1524000" y="6416657"/>
            <a:ext cx="9144000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524000" y="6416658"/>
            <a:ext cx="9144000" cy="4413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141"/>
          <p:cNvSpPr>
            <a:spLocks noChangeArrowheads="1"/>
          </p:cNvSpPr>
          <p:nvPr/>
        </p:nvSpPr>
        <p:spPr bwMode="auto">
          <a:xfrm>
            <a:off x="3086101" y="9645240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2" name="Rectangle 1143"/>
          <p:cNvSpPr>
            <a:spLocks noChangeArrowheads="1"/>
          </p:cNvSpPr>
          <p:nvPr/>
        </p:nvSpPr>
        <p:spPr bwMode="auto">
          <a:xfrm>
            <a:off x="2324101" y="513253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" name="Rectangle 1145"/>
          <p:cNvSpPr>
            <a:spLocks noChangeArrowheads="1"/>
          </p:cNvSpPr>
          <p:nvPr/>
        </p:nvSpPr>
        <p:spPr bwMode="auto">
          <a:xfrm>
            <a:off x="6380671" y="68193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Rectangle 1147"/>
          <p:cNvSpPr>
            <a:spLocks noChangeArrowheads="1"/>
          </p:cNvSpPr>
          <p:nvPr/>
        </p:nvSpPr>
        <p:spPr bwMode="auto">
          <a:xfrm>
            <a:off x="6585287" y="307334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1149"/>
          <p:cNvSpPr>
            <a:spLocks noChangeArrowheads="1"/>
          </p:cNvSpPr>
          <p:nvPr/>
        </p:nvSpPr>
        <p:spPr bwMode="auto">
          <a:xfrm flipV="1">
            <a:off x="6476639" y="4157158"/>
            <a:ext cx="606724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C660DEA-B2D8-C643-88AC-90CF00DD3A27}"/>
              </a:ext>
            </a:extLst>
          </p:cNvPr>
          <p:cNvCxnSpPr/>
          <p:nvPr/>
        </p:nvCxnSpPr>
        <p:spPr>
          <a:xfrm>
            <a:off x="1752600" y="533400"/>
            <a:ext cx="8686800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108341E-2130-D849-BB66-3526FF49644D}"/>
              </a:ext>
            </a:extLst>
          </p:cNvPr>
          <p:cNvSpPr txBox="1"/>
          <p:nvPr/>
        </p:nvSpPr>
        <p:spPr>
          <a:xfrm>
            <a:off x="1716974" y="1350886"/>
            <a:ext cx="86192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350" b="1" i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sz="1350" b="1" i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sz="1350" b="1" i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sz="1350" b="1" i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sz="1350" b="1" i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sz="1350" b="1" i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sz="1350" b="1" i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sz="1350" b="1" i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sz="1350" b="1" i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sz="1350" b="1" i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sz="1350" b="1" i="1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sz="1350" b="1" i="1" dirty="0">
                <a:latin typeface="Arial" pitchFamily="34" charset="0"/>
                <a:cs typeface="Arial" pitchFamily="34" charset="0"/>
              </a:rPr>
              <a:t>Comments or questions can be addressed to</a:t>
            </a:r>
          </a:p>
          <a:p>
            <a:pPr algn="ctr"/>
            <a:r>
              <a:rPr lang="en-US" sz="1350" b="1" i="1" dirty="0">
                <a:latin typeface="Arial" pitchFamily="34" charset="0"/>
                <a:cs typeface="Arial" pitchFamily="34" charset="0"/>
                <a:hlinkClick r:id="rId6"/>
              </a:rPr>
              <a:t>SynthesisWorkshopVideos@gmail.com</a:t>
            </a:r>
            <a:endParaRPr lang="en-US" sz="1350" b="1" i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sz="1350" b="1" i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sz="1350" b="1" i="1" dirty="0">
              <a:latin typeface="Arial" pitchFamily="34" charset="0"/>
              <a:cs typeface="Arial" pitchFamily="34" charset="0"/>
            </a:endParaRPr>
          </a:p>
          <a:p>
            <a:endParaRPr lang="en-US" sz="135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744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14488</TotalTime>
  <Words>154</Words>
  <Application>Microsoft Macintosh PowerPoint</Application>
  <PresentationFormat>Widescreen</PresentationFormat>
  <Paragraphs>50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Example: Introduction &amp; Retrosynthesis</vt:lpstr>
      <vt:lpstr>Example: (-)-Curvulamine Total Synthesis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</dc:creator>
  <cp:lastModifiedBy>Matt</cp:lastModifiedBy>
  <cp:revision>96</cp:revision>
  <dcterms:created xsi:type="dcterms:W3CDTF">2020-04-07T09:09:21Z</dcterms:created>
  <dcterms:modified xsi:type="dcterms:W3CDTF">2021-01-25T16:46:49Z</dcterms:modified>
</cp:coreProperties>
</file>